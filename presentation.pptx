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8.jpeg" ContentType="image/jpeg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7A92646-C384-4CC6-989D-812107BAEFF6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Цель: сравнить активность авторов по метрикам публикационной активности и выявить лидеров/аутсайдеров.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Данные и визуализации: результаты команды 11 (скриншоты графиков).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Структура презентации вдохновлена примером Introductory practice (команда 2).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94D568-BC58-489D-90D2-CF04730C72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ТЗ: скриншот задания (вариант 1 / команда 11).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604B3E8-CAE7-4D71-BAF2-94548007411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Описание этапов: по аналогии со структурой презентации-примера (Introductory practice).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F59C052-781E-4B0A-858A-8740671DD37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Определения метрик: предоставлено командой 11 (ТЗ/описание проекта).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1A18C23-5ECF-4AE9-85BD-E2F704D6867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Пороговые значения фильтров: предоставлено командой 11.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5D494AA-BA24-4207-A417-E81A66AC227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График: результаты команды 11 (Самые активные пользователи по плотности публикаций).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2669C1-B454-4696-BC40-483A9D2FF9E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График: результаты команды 11 (Самые активные пользователи — количество публикаций).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8A7F65-8C97-48CD-91E2-3F9165B3485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График: результаты команды 11 (Самые пассивные пользователи по плотности публикаций).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338FA0-98CB-4DDD-B886-517612D5C9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График: результаты команды 11 (Изменение активности по дням недели).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11062DD-BB97-414C-9089-22C2CA9283B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График: результаты команды 11 (Изменение активности по месяцам).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645271C-60B2-41ED-ADD6-6185B4AF89A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График: результаты команды 11 (Самые популярные темы).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B7E600-8B5E-4657-88D4-347749D4B78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Выводы сформулированы по графикам команды 11 (встроены в презентацию).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E44120-C089-4FB0-A6AE-24DE2869227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1f2329"/>
          </a:solidFill>
          <a:ln w="12700">
            <a:solidFill>
              <a:srgbClr val="1f23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63a8ff"/>
          </a:solidFill>
          <a:ln w="12700">
            <a:solidFill>
              <a:srgbClr val="63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1325880"/>
            <a:ext cx="1115496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Сравнительный анализ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активности пользователей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в Дзене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13160" y="3703320"/>
            <a:ext cx="109720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Команда 11 • Метрика: количество публикаций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85800" y="4343400"/>
            <a:ext cx="10972080" cy="14166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005840" y="449892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Участники проекта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005840" y="4800600"/>
            <a:ext cx="1024056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Бреховских Егор • Спиркин Максим • Можегов Лев • Коротаев Роман • Ялунин Максим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Цель и вопросы анализа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31520" y="1143000"/>
            <a:ext cx="5394240" cy="53028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051560" y="137160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051560" y="1874520"/>
            <a:ext cx="4754160" cy="100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Научиться анализировать пользовательскую активность в Дзене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и строить рейтинг авторов по публикациям.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051560" y="3063240"/>
            <a:ext cx="47541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Вопросы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143000" y="3520440"/>
            <a:ext cx="4754160" cy="265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f2f4f7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Кто самые активные и пассивные авторы?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f2f4f7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Насколько активность сосредоточена у небольшого числа людей?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f2f4f7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Как меняется активность по дням недели и по месяцам?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f2f4f7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Какие темы чаще встречаются у активных авторов?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6400800" y="1143000"/>
            <a:ext cx="5074200" cy="530280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/mnt/data/d549b9af-b829-4d3f-8eb9-ee1b9a00f960.png"/>
          <p:cNvPicPr/>
          <p:nvPr/>
        </p:nvPicPr>
        <p:blipFill>
          <a:blip r:embed="rId1"/>
          <a:stretch/>
        </p:blipFill>
        <p:spPr>
          <a:xfrm>
            <a:off x="6528600" y="1143000"/>
            <a:ext cx="4818600" cy="530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Text 9"/>
          <p:cNvSpPr/>
          <p:nvPr/>
        </p:nvSpPr>
        <p:spPr>
          <a:xfrm>
            <a:off x="6400800" y="6355080"/>
            <a:ext cx="5074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Этапы работы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822960" y="1280160"/>
            <a:ext cx="10560600" cy="539424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4"/>
          <p:cNvSpPr/>
          <p:nvPr/>
        </p:nvSpPr>
        <p:spPr>
          <a:xfrm>
            <a:off x="1143000" y="1691640"/>
            <a:ext cx="410760" cy="410760"/>
          </a:xfrm>
          <a:prstGeom prst="ellipse">
            <a:avLst/>
          </a:prstGeom>
          <a:solidFill>
            <a:srgbClr val="63a8ff"/>
          </a:solidFill>
          <a:ln w="12700">
            <a:solidFill>
              <a:srgbClr val="63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5"/>
          <p:cNvSpPr/>
          <p:nvPr/>
        </p:nvSpPr>
        <p:spPr>
          <a:xfrm>
            <a:off x="1143000" y="173736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1220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1691640" y="17100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Сбор данных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691640" y="2194560"/>
            <a:ext cx="2971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Даты публикаций и авторы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Темы/теги (если доступны)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Предварительная проверка пропусков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8"/>
          <p:cNvSpPr/>
          <p:nvPr/>
        </p:nvSpPr>
        <p:spPr>
          <a:xfrm>
            <a:off x="4526280" y="1691640"/>
            <a:ext cx="410760" cy="410760"/>
          </a:xfrm>
          <a:prstGeom prst="ellipse">
            <a:avLst/>
          </a:prstGeom>
          <a:solidFill>
            <a:srgbClr val="63a8ff"/>
          </a:solidFill>
          <a:ln w="12700">
            <a:solidFill>
              <a:srgbClr val="63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9"/>
          <p:cNvSpPr/>
          <p:nvPr/>
        </p:nvSpPr>
        <p:spPr>
          <a:xfrm>
            <a:off x="4526280" y="173736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1220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5074920" y="17100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Подготовка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5074920" y="2194560"/>
            <a:ext cx="2971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Очистка и приведение дат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Агрегация по пользователям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Расчёт метрик активности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7909560" y="1691640"/>
            <a:ext cx="410760" cy="410760"/>
          </a:xfrm>
          <a:prstGeom prst="ellipse">
            <a:avLst/>
          </a:prstGeom>
          <a:solidFill>
            <a:srgbClr val="63a8ff"/>
          </a:solidFill>
          <a:ln w="12700">
            <a:solidFill>
              <a:srgbClr val="63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3"/>
          <p:cNvSpPr/>
          <p:nvPr/>
        </p:nvSpPr>
        <p:spPr>
          <a:xfrm>
            <a:off x="7909560" y="1737360"/>
            <a:ext cx="410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0b1220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8458200" y="1710000"/>
            <a:ext cx="2742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Визуализация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8458200" y="2194560"/>
            <a:ext cx="2971080" cy="20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Рейтинги активных/пассивных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Дни недели и сезонность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Темы и интерпретация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1143000" y="6172200"/>
            <a:ext cx="10240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Инструменты: Python • Yandex DataLens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Метрики активности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"/>
          <p:cNvSpPr/>
          <p:nvPr/>
        </p:nvSpPr>
        <p:spPr>
          <a:xfrm>
            <a:off x="685800" y="1143000"/>
            <a:ext cx="10834920" cy="201096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1051560" y="1325880"/>
            <a:ext cx="103777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Использовали 3 взаимосвязанные метрики: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5"/>
          <p:cNvSpPr/>
          <p:nvPr/>
        </p:nvSpPr>
        <p:spPr>
          <a:xfrm>
            <a:off x="777240" y="3429000"/>
            <a:ext cx="3702600" cy="1233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6"/>
          <p:cNvSpPr/>
          <p:nvPr/>
        </p:nvSpPr>
        <p:spPr>
          <a:xfrm>
            <a:off x="1005840" y="359352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Publication Density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1005840" y="386784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плотность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1005840" y="437076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posts / (last - first + 1)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9"/>
          <p:cNvSpPr/>
          <p:nvPr/>
        </p:nvSpPr>
        <p:spPr>
          <a:xfrm>
            <a:off x="4251960" y="3429000"/>
            <a:ext cx="3702600" cy="1233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0"/>
          <p:cNvSpPr/>
          <p:nvPr/>
        </p:nvSpPr>
        <p:spPr>
          <a:xfrm>
            <a:off x="4480560" y="359352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Average Interval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1"/>
          <p:cNvSpPr/>
          <p:nvPr/>
        </p:nvSpPr>
        <p:spPr>
          <a:xfrm>
            <a:off x="4480560" y="386784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интервал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2"/>
          <p:cNvSpPr/>
          <p:nvPr/>
        </p:nvSpPr>
        <p:spPr>
          <a:xfrm>
            <a:off x="4480560" y="437076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обратная величина плотности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3"/>
          <p:cNvSpPr/>
          <p:nvPr/>
        </p:nvSpPr>
        <p:spPr>
          <a:xfrm>
            <a:off x="7726680" y="3429000"/>
            <a:ext cx="3702600" cy="1233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4"/>
          <p:cNvSpPr/>
          <p:nvPr/>
        </p:nvSpPr>
        <p:spPr>
          <a:xfrm>
            <a:off x="7955280" y="359352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Number of unique days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5"/>
          <p:cNvSpPr/>
          <p:nvPr/>
        </p:nvSpPr>
        <p:spPr>
          <a:xfrm>
            <a:off x="7955280" y="3867840"/>
            <a:ext cx="324540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активные дни</a:t>
            </a:r>
            <a:endParaRPr b="0" lang="ru-RU" sz="2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6"/>
          <p:cNvSpPr/>
          <p:nvPr/>
        </p:nvSpPr>
        <p:spPr>
          <a:xfrm>
            <a:off x="7955280" y="4370760"/>
            <a:ext cx="324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количество дней с публикациями</a:t>
            </a:r>
            <a:endParaRPr b="0" lang="ru-RU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1051560" y="1737360"/>
            <a:ext cx="103777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Формулы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8"/>
          <p:cNvSpPr/>
          <p:nvPr/>
        </p:nvSpPr>
        <p:spPr>
          <a:xfrm>
            <a:off x="1051560" y="2057400"/>
            <a:ext cx="103777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Publication Density = posts / (last_date − first_date + 1)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Average Interval = 1 / Publication Density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Number of unique days = количество дней, когда автор публиковал посты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Критерии отбора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3"/>
          <p:cNvSpPr/>
          <p:nvPr/>
        </p:nvSpPr>
        <p:spPr>
          <a:xfrm>
            <a:off x="685800" y="1143000"/>
            <a:ext cx="10834920" cy="265104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1051560" y="132588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Активные пользователи (для графика топа)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5"/>
          <p:cNvSpPr/>
          <p:nvPr/>
        </p:nvSpPr>
        <p:spPr>
          <a:xfrm>
            <a:off x="1097280" y="1783080"/>
            <a:ext cx="548568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Publication Density &gt; 0.3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Average Interval &lt; 50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Number of unique days &gt; 30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6537960" y="1325880"/>
            <a:ext cx="5668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Пассивные пользователи (для графика низа)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6583680" y="1783080"/>
            <a:ext cx="539424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Publication Density &lt; 0.1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20 &lt; Average Interval &lt; 40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30 &lt; Number of unique days &lt; 80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685800" y="4069080"/>
            <a:ext cx="10834920" cy="2376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9"/>
          <p:cNvSpPr/>
          <p:nvPr/>
        </p:nvSpPr>
        <p:spPr>
          <a:xfrm>
            <a:off x="1051560" y="4251960"/>
            <a:ext cx="109720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Зачем эти фильтры?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1097280" y="4617720"/>
            <a:ext cx="10377720" cy="164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Отсекаем “одноразовые” аккаунты с редкими публикациями.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Сравниваем авторов со стабильной активностью на сопоставимом горизонте.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Делаем графики читаемыми: меньше выбросов — больше смысла.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Плотность публикаций vs интервал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"/>
          <p:cNvSpPr/>
          <p:nvPr/>
        </p:nvSpPr>
        <p:spPr>
          <a:xfrm>
            <a:off x="685800" y="1097280"/>
            <a:ext cx="7451640" cy="553140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0" descr="/mnt/data/98b5623f-633b-4ea8-a3d7-7895317fc3f0.png"/>
          <p:cNvPicPr/>
          <p:nvPr/>
        </p:nvPicPr>
        <p:blipFill>
          <a:blip r:embed="rId1"/>
          <a:stretch/>
        </p:blipFill>
        <p:spPr>
          <a:xfrm>
            <a:off x="685800" y="1983960"/>
            <a:ext cx="7451640" cy="3758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Shape 4"/>
          <p:cNvSpPr/>
          <p:nvPr/>
        </p:nvSpPr>
        <p:spPr>
          <a:xfrm>
            <a:off x="8366760" y="1097280"/>
            <a:ext cx="3611160" cy="55314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5"/>
          <p:cNvSpPr/>
          <p:nvPr/>
        </p:nvSpPr>
        <p:spPr>
          <a:xfrm>
            <a:off x="8641080" y="13258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Как читать график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6"/>
          <p:cNvSpPr/>
          <p:nvPr/>
        </p:nvSpPr>
        <p:spPr>
          <a:xfrm>
            <a:off x="8641080" y="1737360"/>
            <a:ext cx="315396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Publication Density ↑ → автор публикует чаще на единицу времени.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Average Interval ↓ → посты выходят более регулярно.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Топ-авторы обычно одновременно имеют высокую плотность и низкий средний интервал.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Полезно для “ровных” авторов: не обязательно максимум постов, но стабильный темп.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Рейтинг по числу публикаций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685800" y="1097280"/>
            <a:ext cx="7451640" cy="553140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/mnt/data/71478ffd-5a27-4e96-af85-38a8866f4ece.png"/>
          <p:cNvPicPr/>
          <p:nvPr/>
        </p:nvPicPr>
        <p:blipFill>
          <a:blip r:embed="rId1"/>
          <a:stretch/>
        </p:blipFill>
        <p:spPr>
          <a:xfrm>
            <a:off x="685800" y="1761840"/>
            <a:ext cx="7451640" cy="420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Shape 4"/>
          <p:cNvSpPr/>
          <p:nvPr/>
        </p:nvSpPr>
        <p:spPr>
          <a:xfrm>
            <a:off x="8366760" y="1097280"/>
            <a:ext cx="3611160" cy="55314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5"/>
          <p:cNvSpPr/>
          <p:nvPr/>
        </p:nvSpPr>
        <p:spPr>
          <a:xfrm>
            <a:off x="8641080" y="13258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Наблюдения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8641080" y="1737360"/>
            <a:ext cx="31539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Лидеры по публикациям: semen_grimshtein, ru_vds, jeston, ggsel, andre_dataist.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Видно “длинный хвост”: разница между топом и серединой заметная.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Для топа важна не только частота, но и длительность активности (unique days).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8641080" y="5074920"/>
            <a:ext cx="315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8641080" y="5349240"/>
            <a:ext cx="315396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Самые пассивные пользователи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180000" y="1097280"/>
            <a:ext cx="7957440" cy="553140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4"/>
          <p:cNvSpPr/>
          <p:nvPr/>
        </p:nvSpPr>
        <p:spPr>
          <a:xfrm>
            <a:off x="8366760" y="1097280"/>
            <a:ext cx="3611160" cy="55314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8641080" y="13258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Что видно?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6"/>
          <p:cNvSpPr/>
          <p:nvPr/>
        </p:nvSpPr>
        <p:spPr>
          <a:xfrm>
            <a:off x="8641080" y="1737360"/>
            <a:ext cx="31539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Низкая плотность публикаций (&lt; 0,1) при сравнительно длинных паузах.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При этом число активных дней — не “нулевое”: аккаунты живые, но не регулярные.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Это часто похоже на проектную/ситуативную публикацию, а не постоянное ведение канала.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8641080" y="4937760"/>
            <a:ext cx="3153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8641080" y="5212080"/>
            <a:ext cx="31539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86840" y="1440000"/>
            <a:ext cx="7913160" cy="486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Активность по дням недели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"/>
          <p:cNvSpPr/>
          <p:nvPr/>
        </p:nvSpPr>
        <p:spPr>
          <a:xfrm>
            <a:off x="685800" y="1097280"/>
            <a:ext cx="6445800" cy="553140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0" descr="/mnt/data/e0b50e77-dbe4-478a-8f79-bb99ca2d78fd.png"/>
          <p:cNvPicPr/>
          <p:nvPr/>
        </p:nvPicPr>
        <p:blipFill>
          <a:blip r:embed="rId1"/>
          <a:stretch/>
        </p:blipFill>
        <p:spPr>
          <a:xfrm>
            <a:off x="685800" y="1427040"/>
            <a:ext cx="6445800" cy="487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Shape 4"/>
          <p:cNvSpPr/>
          <p:nvPr/>
        </p:nvSpPr>
        <p:spPr>
          <a:xfrm>
            <a:off x="7360920" y="1097280"/>
            <a:ext cx="4617000" cy="55314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5"/>
          <p:cNvSpPr/>
          <p:nvPr/>
        </p:nvSpPr>
        <p:spPr>
          <a:xfrm>
            <a:off x="7635240" y="132588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Распределение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6"/>
          <p:cNvSpPr/>
          <p:nvPr/>
        </p:nvSpPr>
        <p:spPr>
          <a:xfrm>
            <a:off x="7635240" y="1691640"/>
            <a:ext cx="4022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Доли публикаций по дням: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7"/>
          <p:cNvSpPr/>
          <p:nvPr/>
        </p:nvSpPr>
        <p:spPr>
          <a:xfrm>
            <a:off x="7635240" y="205740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Пн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8"/>
          <p:cNvSpPr/>
          <p:nvPr/>
        </p:nvSpPr>
        <p:spPr>
          <a:xfrm>
            <a:off x="8366760" y="20574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17,7%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9"/>
          <p:cNvSpPr/>
          <p:nvPr/>
        </p:nvSpPr>
        <p:spPr>
          <a:xfrm>
            <a:off x="7635240" y="24688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Вт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0"/>
          <p:cNvSpPr/>
          <p:nvPr/>
        </p:nvSpPr>
        <p:spPr>
          <a:xfrm>
            <a:off x="8366760" y="246888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17,4%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1"/>
          <p:cNvSpPr/>
          <p:nvPr/>
        </p:nvSpPr>
        <p:spPr>
          <a:xfrm>
            <a:off x="7635240" y="288036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Чт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2"/>
          <p:cNvSpPr/>
          <p:nvPr/>
        </p:nvSpPr>
        <p:spPr>
          <a:xfrm>
            <a:off x="8366760" y="288036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16,8%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3"/>
          <p:cNvSpPr/>
          <p:nvPr/>
        </p:nvSpPr>
        <p:spPr>
          <a:xfrm>
            <a:off x="7635240" y="329184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Ср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4"/>
          <p:cNvSpPr/>
          <p:nvPr/>
        </p:nvSpPr>
        <p:spPr>
          <a:xfrm>
            <a:off x="8366760" y="329184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16,4%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5"/>
          <p:cNvSpPr/>
          <p:nvPr/>
        </p:nvSpPr>
        <p:spPr>
          <a:xfrm>
            <a:off x="7635240" y="370332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Пт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6"/>
          <p:cNvSpPr/>
          <p:nvPr/>
        </p:nvSpPr>
        <p:spPr>
          <a:xfrm>
            <a:off x="8366760" y="370332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14,8%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7"/>
          <p:cNvSpPr/>
          <p:nvPr/>
        </p:nvSpPr>
        <p:spPr>
          <a:xfrm>
            <a:off x="7635240" y="411480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Вс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8"/>
          <p:cNvSpPr/>
          <p:nvPr/>
        </p:nvSpPr>
        <p:spPr>
          <a:xfrm>
            <a:off x="8366760" y="411480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8,9%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9"/>
          <p:cNvSpPr/>
          <p:nvPr/>
        </p:nvSpPr>
        <p:spPr>
          <a:xfrm>
            <a:off x="7635240" y="4526280"/>
            <a:ext cx="6393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Сб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0"/>
          <p:cNvSpPr/>
          <p:nvPr/>
        </p:nvSpPr>
        <p:spPr>
          <a:xfrm>
            <a:off x="8366760" y="4526280"/>
            <a:ext cx="1096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8,1%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1"/>
          <p:cNvSpPr/>
          <p:nvPr/>
        </p:nvSpPr>
        <p:spPr>
          <a:xfrm>
            <a:off x="7635240" y="5074920"/>
            <a:ext cx="4068360" cy="17640"/>
          </a:xfrm>
          <a:prstGeom prst="rect">
            <a:avLst/>
          </a:prstGeom>
          <a:solidFill>
            <a:srgbClr val="3a4350"/>
          </a:solidFill>
          <a:ln w="12700">
            <a:solidFill>
              <a:srgbClr val="3a43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6640" bIns="-2664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2"/>
          <p:cNvSpPr/>
          <p:nvPr/>
        </p:nvSpPr>
        <p:spPr>
          <a:xfrm>
            <a:off x="7635240" y="5230440"/>
            <a:ext cx="415980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Пик — начало недели (Пн–Вт).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На выходных активность заметно ниже.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Топ-10 самых сильных связей по тегам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3"/>
          <p:cNvSpPr/>
          <p:nvPr/>
        </p:nvSpPr>
        <p:spPr>
          <a:xfrm>
            <a:off x="0" y="1097280"/>
            <a:ext cx="7739640" cy="553140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4"/>
          <p:cNvSpPr/>
          <p:nvPr/>
        </p:nvSpPr>
        <p:spPr>
          <a:xfrm>
            <a:off x="8213040" y="1080000"/>
            <a:ext cx="3978720" cy="55314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5"/>
          <p:cNvSpPr/>
          <p:nvPr/>
        </p:nvSpPr>
        <p:spPr>
          <a:xfrm>
            <a:off x="7635240" y="1325880"/>
            <a:ext cx="40226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	</a:t>
            </a: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Ключевые выводы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6"/>
          <p:cNvSpPr/>
          <p:nvPr/>
        </p:nvSpPr>
        <p:spPr>
          <a:xfrm>
            <a:off x="7635240" y="1737360"/>
            <a:ext cx="420552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3" marL="864000" indent="-21600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Сильнейшая связь: искусственный интелект и машинное обучение (1138 постов)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864000" indent="-216000" defTabSz="914400">
              <a:lnSpc>
                <a:spcPct val="100000"/>
              </a:lnSpc>
              <a:spcAft>
                <a:spcPts val="601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Искусственный интелект или машинное обучение присутствуют в 70% самых сильных связей.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7635240" y="4892040"/>
            <a:ext cx="4205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9"/>
          <p:cNvSpPr/>
          <p:nvPr/>
        </p:nvSpPr>
        <p:spPr>
          <a:xfrm>
            <a:off x="7635240" y="5193720"/>
            <a:ext cx="4205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" descr=""/>
          <p:cNvPicPr/>
          <p:nvPr/>
        </p:nvPicPr>
        <p:blipFill>
          <a:blip r:embed="rId1"/>
          <a:stretch/>
        </p:blipFill>
        <p:spPr>
          <a:xfrm>
            <a:off x="0" y="1509120"/>
            <a:ext cx="7711200" cy="4610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Тематики публикаций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685800" y="1097280"/>
            <a:ext cx="7451640" cy="553140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8366760" y="1097280"/>
            <a:ext cx="3611160" cy="55314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8641080" y="1325880"/>
            <a:ext cx="31082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Наблюдения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8641080" y="1737360"/>
            <a:ext cx="3153960" cy="38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Самая частая тема — “информационная безопасность” (явный лидер по числу публикаций).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Заметная доля — “программирование”, “веб‑разработка”, “python/javascript”.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Есть “популярные” направления: гаджеты, научпоп, космонавтика.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3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Тема может быть маркером регулярности: тех‑темы часто ведутся сериями.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720000" y="2419200"/>
            <a:ext cx="7417440" cy="2542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1702440" y="61200"/>
            <a:ext cx="8557560" cy="6799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0" y="0"/>
            <a:ext cx="12191040" cy="68508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14616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Итоги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548640" y="429840"/>
            <a:ext cx="11063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"/>
          <p:cNvSpPr/>
          <p:nvPr/>
        </p:nvSpPr>
        <p:spPr>
          <a:xfrm>
            <a:off x="685800" y="1143000"/>
            <a:ext cx="10834920" cy="475416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4"/>
          <p:cNvSpPr/>
          <p:nvPr/>
        </p:nvSpPr>
        <p:spPr>
          <a:xfrm>
            <a:off x="1051560" y="1371600"/>
            <a:ext cx="1106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Выводы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5"/>
          <p:cNvSpPr/>
          <p:nvPr/>
        </p:nvSpPr>
        <p:spPr>
          <a:xfrm>
            <a:off x="1097280" y="1874520"/>
            <a:ext cx="10377720" cy="35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Активность распределена неравномерно: небольшой набор авторов формирует значимую долю публикаций.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Регулярность (Average Interval) помогает отличать “стабильных” авторов от тех, кто публикует рывками.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По дням недели чаще публикуют в начале недели, выходные заметно слабее.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В тегах вместе чаще всего встречаются искусственный интеллект и машинное обучение.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601"/>
              </a:spcAft>
              <a:buClr>
                <a:srgbClr val="b8c0cc"/>
              </a:buClr>
              <a:buFont typeface="Symbol" charset="2"/>
              <a:buChar char=""/>
            </a:pPr>
            <a:r>
              <a:rPr b="0" lang="en-US" sz="15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В тематиках доминируют тех‑направления (инфобез, разработка, программирование).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6"/>
          <p:cNvSpPr/>
          <p:nvPr/>
        </p:nvSpPr>
        <p:spPr>
          <a:xfrm>
            <a:off x="685800" y="5989320"/>
            <a:ext cx="10834920" cy="68508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7"/>
          <p:cNvSpPr/>
          <p:nvPr/>
        </p:nvSpPr>
        <p:spPr>
          <a:xfrm>
            <a:off x="1051560" y="6108120"/>
            <a:ext cx="11063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Спасибо за внимание!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LibreOffice/25.8.3.2$Windows_X86_64 LibreOffice_project/8ca8d55c161d602844f5428fa4b58097424e324e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2026-01-19T18:41:50Z</dcterms:created>
  <dc:creator>Team 11</dc:creator>
  <dc:description/>
  <dc:language>ru-RU</dc:language>
  <cp:lastModifiedBy/>
  <dcterms:modified xsi:type="dcterms:W3CDTF">2026-01-21T09:24:19Z</dcterms:modified>
  <cp:revision>3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