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перемещения страницы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A3A262E-2790-486F-AF9F-F957D5E83DA0}" type="slidenum"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Цель: сравнить активность авторов по метрикам публикационной активности и выявить лидеров/аутсайдеров.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Данные и визуализации: результаты команды 11 (скриншоты графиков).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Структура презентации вдохновлена примером Introductory practice (команда 2).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D9D0DA-A6F9-4D40-AC52-F15F0E1697C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ТЗ: скриншот задания (вариант 1 / команда 11).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D17FBF-CA74-4CB0-BA10-65CEC99AC17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ТЗ: скриншот задания (вариант 1 / команда 11).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FF9855-9136-4643-B375-5B7FF870C98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ТЗ: скриншот задания (вариант 1 / команда 11).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B26778F-C1D2-42F6-B62E-DCD62C29599D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ТЗ: скриншот задания (вариант 1 / команда 11).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2FB4404-8BA3-439E-99DB-3B2225F0AC9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ТЗ: скриншот задания (вариант 1 / команда 11).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75B096-CFE1-40D3-91C7-C4CB3057C09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600" cy="308448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Выводы сформулированы по графикам команды 11 (встроены в презентацию).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[/Sources]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0902CC-2CF3-4D97-A0F0-4FB5503D830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текста заглавия щёлкните мышью</a:t>
            </a:r>
            <a:endParaRPr b="0" lang="ru-R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Для правки структуры щёлкните мышью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Второй уровень структуры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Третий уровень структуры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Четвёртый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Пятый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Шестой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Седьмой уровень структуры</a:t>
            </a:r>
            <a:endParaRPr b="0" lang="ru-R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89960" cy="6856200"/>
          </a:xfrm>
          <a:prstGeom prst="rect">
            <a:avLst/>
          </a:prstGeom>
          <a:solidFill>
            <a:srgbClr val="1f2329"/>
          </a:solidFill>
          <a:ln w="12700">
            <a:solidFill>
              <a:srgbClr val="1f232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62720" cy="6856200"/>
          </a:xfrm>
          <a:prstGeom prst="rect">
            <a:avLst/>
          </a:prstGeom>
          <a:solidFill>
            <a:srgbClr val="63a8ff"/>
          </a:solidFill>
          <a:ln w="12700">
            <a:solidFill>
              <a:srgbClr val="63a8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685800" y="1325880"/>
            <a:ext cx="1115388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Сравнительный анализ</a:t>
            </a:r>
            <a:endParaRPr b="0" lang="ru-R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активности пользователей</a:t>
            </a:r>
            <a:endParaRPr b="0" lang="ru-R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в Дзене - отчет</a:t>
            </a:r>
            <a:endParaRPr b="0" lang="ru-RU" sz="3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13160" y="3703320"/>
            <a:ext cx="1097100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8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Команда 11 • Метрика: количество публикаций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685800" y="4343400"/>
            <a:ext cx="10971000" cy="141552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005840" y="4498920"/>
            <a:ext cx="4570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Участники проекта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1005840" y="4800600"/>
            <a:ext cx="1023948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Бреховских Егор • Спиркин Максим • Можегов Лев • Коротаев Роман • Ялунин Максим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0"/>
          <p:cNvSpPr/>
          <p:nvPr/>
        </p:nvSpPr>
        <p:spPr>
          <a:xfrm>
            <a:off x="0" y="0"/>
            <a:ext cx="12189960" cy="68400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146160"/>
            <a:ext cx="1106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Бреховских Егор – Парсинг данных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548640" y="429840"/>
            <a:ext cx="11062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731520" y="1143000"/>
            <a:ext cx="5393160" cy="530172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051560" y="1371600"/>
            <a:ext cx="47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Цель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1051560" y="1874520"/>
            <a:ext cx="47530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Распарсить данные из API хабра для построения графиков.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1051560" y="3063240"/>
            <a:ext cx="47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1143000" y="3520440"/>
            <a:ext cx="475308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6400800" y="1143000"/>
            <a:ext cx="5073120" cy="530172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6400800" y="6355080"/>
            <a:ext cx="5073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" name="" descr=""/>
          <p:cNvPicPr/>
          <p:nvPr/>
        </p:nvPicPr>
        <p:blipFill>
          <a:blip r:embed="rId1"/>
          <a:stretch/>
        </p:blipFill>
        <p:spPr>
          <a:xfrm>
            <a:off x="7020000" y="1143000"/>
            <a:ext cx="4038120" cy="530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7"/>
          <p:cNvSpPr/>
          <p:nvPr/>
        </p:nvSpPr>
        <p:spPr>
          <a:xfrm>
            <a:off x="0" y="0"/>
            <a:ext cx="12189960" cy="68400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548640" y="146160"/>
            <a:ext cx="1106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Можегов Лев – Парсинг данных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23"/>
          <p:cNvSpPr/>
          <p:nvPr/>
        </p:nvSpPr>
        <p:spPr>
          <a:xfrm>
            <a:off x="548640" y="429840"/>
            <a:ext cx="11062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731520" y="1143000"/>
            <a:ext cx="5393160" cy="530172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24"/>
          <p:cNvSpPr/>
          <p:nvPr/>
        </p:nvSpPr>
        <p:spPr>
          <a:xfrm>
            <a:off x="1051560" y="1371600"/>
            <a:ext cx="47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Цель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1051560" y="1874520"/>
            <a:ext cx="47530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Распарсить данные из API хабра для построения графиков.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6"/>
          <p:cNvSpPr/>
          <p:nvPr/>
        </p:nvSpPr>
        <p:spPr>
          <a:xfrm>
            <a:off x="1051560" y="3063240"/>
            <a:ext cx="47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27"/>
          <p:cNvSpPr/>
          <p:nvPr/>
        </p:nvSpPr>
        <p:spPr>
          <a:xfrm>
            <a:off x="1143000" y="3520440"/>
            <a:ext cx="475308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6400800" y="1143000"/>
            <a:ext cx="5073120" cy="530172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8"/>
          <p:cNvSpPr/>
          <p:nvPr/>
        </p:nvSpPr>
        <p:spPr>
          <a:xfrm>
            <a:off x="6400800" y="6355080"/>
            <a:ext cx="5073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6840000" y="1143000"/>
            <a:ext cx="4318920" cy="530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20"/>
          <p:cNvSpPr/>
          <p:nvPr/>
        </p:nvSpPr>
        <p:spPr>
          <a:xfrm>
            <a:off x="0" y="0"/>
            <a:ext cx="12189960" cy="68400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43"/>
          <p:cNvSpPr/>
          <p:nvPr/>
        </p:nvSpPr>
        <p:spPr>
          <a:xfrm>
            <a:off x="548640" y="146160"/>
            <a:ext cx="1106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Ялунин Максим – Препроцессинг данных, презентация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4"/>
          <p:cNvSpPr/>
          <p:nvPr/>
        </p:nvSpPr>
        <p:spPr>
          <a:xfrm>
            <a:off x="548640" y="429840"/>
            <a:ext cx="11062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2"/>
          <p:cNvSpPr/>
          <p:nvPr/>
        </p:nvSpPr>
        <p:spPr>
          <a:xfrm>
            <a:off x="731520" y="1143000"/>
            <a:ext cx="5393160" cy="530172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5"/>
          <p:cNvSpPr/>
          <p:nvPr/>
        </p:nvSpPr>
        <p:spPr>
          <a:xfrm>
            <a:off x="1051560" y="1371600"/>
            <a:ext cx="47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Цель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6"/>
          <p:cNvSpPr/>
          <p:nvPr/>
        </p:nvSpPr>
        <p:spPr>
          <a:xfrm>
            <a:off x="1051560" y="1874520"/>
            <a:ext cx="47530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Убрать нетематические теги из таблицы с постами и объединить синонимичные теги в один для уникальности, создать презентацию проекта.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47"/>
          <p:cNvSpPr/>
          <p:nvPr/>
        </p:nvSpPr>
        <p:spPr>
          <a:xfrm>
            <a:off x="1051560" y="3063240"/>
            <a:ext cx="47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48"/>
          <p:cNvSpPr/>
          <p:nvPr/>
        </p:nvSpPr>
        <p:spPr>
          <a:xfrm>
            <a:off x="1143000" y="3520440"/>
            <a:ext cx="475308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3"/>
          <p:cNvSpPr/>
          <p:nvPr/>
        </p:nvSpPr>
        <p:spPr>
          <a:xfrm>
            <a:off x="6400800" y="1143000"/>
            <a:ext cx="5073120" cy="530172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49"/>
          <p:cNvSpPr/>
          <p:nvPr/>
        </p:nvSpPr>
        <p:spPr>
          <a:xfrm>
            <a:off x="6400800" y="6355080"/>
            <a:ext cx="5073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6400800" y="1980000"/>
            <a:ext cx="5116320" cy="341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14"/>
          <p:cNvSpPr/>
          <p:nvPr/>
        </p:nvSpPr>
        <p:spPr>
          <a:xfrm>
            <a:off x="0" y="0"/>
            <a:ext cx="12189960" cy="68400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9"/>
          <p:cNvSpPr/>
          <p:nvPr/>
        </p:nvSpPr>
        <p:spPr>
          <a:xfrm>
            <a:off x="548640" y="146160"/>
            <a:ext cx="1106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Спиркин Максим – Обработка данных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0"/>
          <p:cNvSpPr/>
          <p:nvPr/>
        </p:nvSpPr>
        <p:spPr>
          <a:xfrm>
            <a:off x="548640" y="429840"/>
            <a:ext cx="11062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5"/>
          <p:cNvSpPr/>
          <p:nvPr/>
        </p:nvSpPr>
        <p:spPr>
          <a:xfrm>
            <a:off x="731520" y="1143000"/>
            <a:ext cx="5393160" cy="530172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1"/>
          <p:cNvSpPr/>
          <p:nvPr/>
        </p:nvSpPr>
        <p:spPr>
          <a:xfrm>
            <a:off x="1051560" y="1371600"/>
            <a:ext cx="47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Цель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2"/>
          <p:cNvSpPr/>
          <p:nvPr/>
        </p:nvSpPr>
        <p:spPr>
          <a:xfrm>
            <a:off x="1051560" y="1874520"/>
            <a:ext cx="47530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Обработать распаршенные данные и перенести их в таблицу для более легкого переноса на графики.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3"/>
          <p:cNvSpPr/>
          <p:nvPr/>
        </p:nvSpPr>
        <p:spPr>
          <a:xfrm>
            <a:off x="1051560" y="3063240"/>
            <a:ext cx="47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4"/>
          <p:cNvSpPr/>
          <p:nvPr/>
        </p:nvSpPr>
        <p:spPr>
          <a:xfrm>
            <a:off x="1143000" y="3520440"/>
            <a:ext cx="475308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6"/>
          <p:cNvSpPr/>
          <p:nvPr/>
        </p:nvSpPr>
        <p:spPr>
          <a:xfrm>
            <a:off x="6400800" y="1143000"/>
            <a:ext cx="5073120" cy="530172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5"/>
          <p:cNvSpPr/>
          <p:nvPr/>
        </p:nvSpPr>
        <p:spPr>
          <a:xfrm>
            <a:off x="6400800" y="6355080"/>
            <a:ext cx="5073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6400800" y="1620000"/>
            <a:ext cx="5073120" cy="377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2"/>
          <p:cNvSpPr/>
          <p:nvPr/>
        </p:nvSpPr>
        <p:spPr>
          <a:xfrm>
            <a:off x="0" y="0"/>
            <a:ext cx="12189960" cy="68400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0"/>
          <p:cNvSpPr/>
          <p:nvPr/>
        </p:nvSpPr>
        <p:spPr>
          <a:xfrm>
            <a:off x="548640" y="146160"/>
            <a:ext cx="1106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Коротаев Роман – Визуализация данных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51"/>
          <p:cNvSpPr/>
          <p:nvPr/>
        </p:nvSpPr>
        <p:spPr>
          <a:xfrm>
            <a:off x="548640" y="429840"/>
            <a:ext cx="11062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4"/>
          <p:cNvSpPr/>
          <p:nvPr/>
        </p:nvSpPr>
        <p:spPr>
          <a:xfrm>
            <a:off x="731520" y="1143000"/>
            <a:ext cx="5393160" cy="530172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2"/>
          <p:cNvSpPr/>
          <p:nvPr/>
        </p:nvSpPr>
        <p:spPr>
          <a:xfrm>
            <a:off x="1051560" y="1371600"/>
            <a:ext cx="47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Цель</a:t>
            </a:r>
            <a:endParaRPr b="0" lang="ru-RU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53"/>
          <p:cNvSpPr/>
          <p:nvPr/>
        </p:nvSpPr>
        <p:spPr>
          <a:xfrm>
            <a:off x="1051560" y="1874520"/>
            <a:ext cx="475308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b8c0cc"/>
                </a:solidFill>
                <a:effectLst/>
                <a:uFillTx/>
                <a:latin typeface="Calibri"/>
                <a:ea typeface="Calibri"/>
              </a:rPr>
              <a:t>Отобразить полученные данные на графиках с помощью Datalense.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54"/>
          <p:cNvSpPr/>
          <p:nvPr/>
        </p:nvSpPr>
        <p:spPr>
          <a:xfrm>
            <a:off x="1051560" y="3063240"/>
            <a:ext cx="4753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55"/>
          <p:cNvSpPr/>
          <p:nvPr/>
        </p:nvSpPr>
        <p:spPr>
          <a:xfrm>
            <a:off x="1143000" y="3520440"/>
            <a:ext cx="4753080" cy="264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5"/>
          <p:cNvSpPr/>
          <p:nvPr/>
        </p:nvSpPr>
        <p:spPr>
          <a:xfrm>
            <a:off x="6400800" y="1143000"/>
            <a:ext cx="5073120" cy="5301720"/>
          </a:xfrm>
          <a:prstGeom prst="rect">
            <a:avLst/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56"/>
          <p:cNvSpPr/>
          <p:nvPr/>
        </p:nvSpPr>
        <p:spPr>
          <a:xfrm>
            <a:off x="6400800" y="6355080"/>
            <a:ext cx="5073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6400800" y="1800000"/>
            <a:ext cx="5073120" cy="287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0" y="0"/>
            <a:ext cx="12189960" cy="684000"/>
          </a:xfrm>
          <a:prstGeom prst="rect">
            <a:avLst/>
          </a:prstGeom>
          <a:solidFill>
            <a:srgbClr val="2b313a"/>
          </a:solidFill>
          <a:ln w="12700">
            <a:solidFill>
              <a:srgbClr val="2b31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48640" y="146160"/>
            <a:ext cx="1106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Итоги</a:t>
            </a:r>
            <a:endParaRPr b="0" lang="ru-RU" sz="2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48640" y="429840"/>
            <a:ext cx="1106244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3"/>
          <p:cNvSpPr/>
          <p:nvPr/>
        </p:nvSpPr>
        <p:spPr>
          <a:xfrm>
            <a:off x="685800" y="1080000"/>
            <a:ext cx="10833840" cy="475308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1. Данные получены и подготовлены — настроен парсинг API Хабра и проведена очистка тегов.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 Создан рабочий конвейер — от сбора до визуализации в Datalense для анализа активности.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ru-RU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 Выявлены первые инсайты — обнаружены паттерны публикаций и тематические кластеры.</a:t>
            </a: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1051560" y="1371600"/>
            <a:ext cx="11062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1097280" y="1874520"/>
            <a:ext cx="10376640" cy="35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spcAft>
                <a:spcPts val="601"/>
              </a:spcAft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6"/>
          <p:cNvSpPr/>
          <p:nvPr/>
        </p:nvSpPr>
        <p:spPr>
          <a:xfrm>
            <a:off x="685800" y="5989320"/>
            <a:ext cx="10833840" cy="684000"/>
          </a:xfrm>
          <a:prstGeom prst="roundRect">
            <a:avLst>
              <a:gd name="adj" fmla="val 16667"/>
            </a:avLst>
          </a:prstGeom>
          <a:solidFill>
            <a:srgbClr val="2b313a"/>
          </a:solidFill>
          <a:ln w="12700">
            <a:solidFill>
              <a:srgbClr val="3a4350"/>
            </a:solidFill>
            <a:round/>
          </a:ln>
          <a:effectLst>
            <a:outerShdw algn="bl" blurRad="38160" dir="2700000" dist="25455" kx="0" ky="0" rotWithShape="0" sx="100000" sy="100000">
              <a:srgbClr val="000000">
                <a:alpha val="2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1051560" y="6108120"/>
            <a:ext cx="1106244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2f4f7"/>
                </a:solidFill>
                <a:effectLst/>
                <a:uFillTx/>
                <a:latin typeface="Calibri"/>
                <a:ea typeface="Calibri"/>
              </a:rPr>
              <a:t>Спасибо за внимание!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LibreOffice/25.8.3.2$Windows_X86_64 LibreOffice_project/8ca8d55c161d602844f5428fa4b58097424e324e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2026-01-19T18:41:50Z</dcterms:created>
  <dc:creator>Team 11</dc:creator>
  <dc:description/>
  <dc:language>ru-RU</dc:language>
  <cp:lastModifiedBy/>
  <dcterms:modified xsi:type="dcterms:W3CDTF">2026-01-21T09:00:02Z</dcterms:modified>
  <cp:revision>6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12</vt:i4>
  </property>
  <property fmtid="{D5CDD505-2E9C-101B-9397-08002B2CF9AE}" pid="3" name="PresentationFormat">
    <vt:lpwstr>On-screen Show (16:9)</vt:lpwstr>
  </property>
  <property fmtid="{D5CDD505-2E9C-101B-9397-08002B2CF9AE}" pid="4" name="Slides">
    <vt:i4>12</vt:i4>
  </property>
</Properties>
</file>